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开场一句话定调：这不是一个壁纸，是一个住在电脑里的角色。她有自己的形象、声音、记忆，还能替我干活。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先讲市场。我把市面上的做法分成四类：开源桌宠、Steam 商业桌宠、AI 桌宠新秀、以及像《你妈》这种靠话题出圈的。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这里先给一个时间线，说明这波不是我们自己在想：2026 年 3 月到 9 月，腾讯、Anthropic、OpenAI、还有北大的仓鼠元元，全部在做桌宠。但请注意它们走的是同一条线——办公和生产力，宠物是入口、是身份锚点。没有一个人负责回答“她还是不是她本人”。这句话是今天整个故事的支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市面上的做法可以分四类：开源桌宠、Steam 商业桌宠、AI 桌宠新秀，以及像《你妈》这种靠话题出圈的。下面逐类看它们强在哪、缺什么。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开源这块做得最久。它们强在动——能爬窗口、会掉下去、有养成数值；但普遍没有长期记忆，关掉就忘，也不碰本机操作。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Steam 上卖的是形象和皮肤：Desktop Mate 靠 IP 联名，Live2DViewerEX 靠创作生态，Wallpaper Engine 更偏桌面美化。它们的共同天花板是：出不了桌面这个窗口，也不理解你的生活。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另一条线是 AI 聊天机器人。接 QQ/微信的很多，有形象的也很多，但很少有项目两头都占。这句话可以记住：有形象的都不接 QQ/微信，接 QQ/微信的都没形象。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这一页是把我们放进去比。六条里我们能同时给：形象、人格与记忆、聊天软件打通、真声线、桌面操作、手机端。</a:t>
            </a:r>
          </a:p>
          <a:p>
            <a:r>
              <a:t>最后那条“并非首创”我想主动说出来：我查到唯一把形象、聊天软件、本地操作、语音同时做齐且还在活跃的是 super-agent-party。这件事写在页面上，但它不是今天的开场——开场那句在下一页。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同一件事，两种做法，放在一起看最清楚。</a:t>
            </a:r>
          </a:p>
          <a:p>
            <a:r>
              <a:t>左边是办公线：宠物是通用吉祥物，目标是任务，指标是效率和留存——所以换皮、联名都不影响产品成立。</a:t>
            </a:r>
          </a:p>
          <a:p>
            <a:r>
              <a:t>右边是我们：角色是具体的人，人格连续性是核心变量，指标是关系感知和打扰容忍度。这一页就是回答“有什么是我们有、别人没有的”。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这句话是今天最想留下的一句：大厂在给 AI 装一只宠物，我们做的是一个人。</a:t>
            </a:r>
          </a:p>
          <a:p>
            <a:r>
              <a:t>腾讯、Anthropic、OpenAI 都在把宠物放进办公工具——宠物是入口、是身份锚点，但那是一只通用的猫。没有人负责回答“她还是不是她本人”。</a:t>
            </a:r>
          </a:p>
          <a:p>
            <a:r>
              <a:t>我们的全部工作都在这个问题上：固定的人格、固定的声线、跨端的长期记忆。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下面进第二部分：她具体能做什么，以及这些是怎么实现的。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她目前能做的五件事：有形象地陪着、用自己的声音说话、记得住我、能替我干活、还能出桌面去 QQ/微信里继续聊。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形象这块的核心设计是：**装扮即数据**。衣服、发型、装饰、姿势都是层号，换装就是换层再合成，所以 Live2D 和 2D 立绘能共用同一套装扮。语音是角色专属模型，独立服务常驻。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记忆是分层的：对话记忆、长期记忆、日记、状态快照各管一段。关系值按真实相处证据抬升，不靠嘴甜。她会自己补课、自己归纳关于我的事。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出桌面这块：QQ/微信桥接用同一套人设和记忆，连立绘都是同一件衣服。手机端走同一套后端协议。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工程这块我想强调一句：这不是『我这儿能跑』。仓库自带 381 项自检，一条命令可复现，现在是全绿。换装差异、立绘底色这种观感问题，我们用像素级比对来验收。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第三部分，未来规划。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近期三件事：手机端的真机验证与调优（功能已经写好了）、3D 模型方案评估（先验证能不能跑起来，再谈建模成本）、多角色支持。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这一页要说得实在：手部互动我已经做出来一半了。手机端接了 21 个关键点的手部检测，链路是通的——她会看着你的手；还做了三个手势：捏合（捏脸）、握拳、挥手，一共 21 个单元测试。</a:t>
            </a:r>
          </a:p>
          <a:p>
            <a:r>
              <a:t>但我要说清楚：**这些只到「编译和单测通过」**，真手伸过去她的眼睛是不是真的跟着转，必须真机上确认。所以这一页既是成果，也是下一步的清单。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另一条中期的路是毫米波雷达：不依赖光线和镜头、隐私友好、能全天运行。这里要诚实：毫米波做隐私友好交互已经有人做了（今年 9 月的 mmHRI，隔着帘子做机器人操作，动作识别 85%），所以我们不主张「第一次用毫米波」。我们的问题不同——他们做操纵、指标是准确率；我们做陪伴、指标是关系感知和打扰容忍度。这条线能不能立住，取决于接下来的用户研究。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远期是形态自由：AR 呈现（同类多是 iPhone 生态，安卓侧还是空白）、系统级常驻、以及角色与语音都能替换的开放生态。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一句话收束路线取舍：先让她真的住在电脑里，再让她走到你身边。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最后留现场演示：形象、换装、对话、记忆、桌面操作。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B2B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120640"/>
            <a:ext cx="12191695" cy="38100"/>
          </a:xfrm>
          <a:prstGeom prst="rect">
            <a:avLst/>
          </a:prstGeom>
          <a:solidFill>
            <a:srgbClr val="C9A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400"/>
              </a:spcAft>
            </a:pPr>
            <a:r>
              <a:rPr sz="4400" b="1">
                <a:solidFill>
                  <a:srgbClr val="F7F1EA"/>
                </a:solidFill>
                <a:latin typeface="Arial"/>
                <a:ea typeface="Arial"/>
                <a:cs typeface="Arial"/>
              </a:rPr>
              <a:t>AIpet · 丛雨</a:t>
            </a:r>
          </a:p>
          <a:p>
            <a:pPr algn="l">
              <a:spcAft>
                <a:spcPts val="0"/>
              </a:spcAft>
            </a:pPr>
            <a:r>
              <a:rPr sz="1800" b="0">
                <a:solidFill>
                  <a:srgbClr val="C9A35F"/>
                </a:solidFill>
                <a:latin typeface="Arial"/>
                <a:ea typeface="Arial"/>
                <a:cs typeface="Arial"/>
              </a:rPr>
              <a:t>会长期陪伴的桌面智能体：有形象 · 会记事 · 能干活 · 还能上手机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39496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F7F1EA"/>
                </a:solidFill>
                <a:latin typeface="Arial"/>
                <a:ea typeface="Arial"/>
                <a:cs typeface="Arial"/>
              </a:rPr>
              <a:t>2026-10-13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B2B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0116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6000" b="1">
                <a:solidFill>
                  <a:srgbClr val="A03A35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38328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F7F1EA"/>
                </a:solidFill>
                <a:latin typeface="Arial"/>
                <a:ea typeface="Arial"/>
                <a:cs typeface="Arial"/>
              </a:rPr>
              <a:t>桌宠市场：现在都做到了哪一步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10642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3B2B26"/>
                </a:solidFill>
                <a:latin typeface="Arial"/>
                <a:ea typeface="Arial"/>
                <a:cs typeface="Arial"/>
              </a:rPr>
              <a:t>2026：大厂集体入局，但走的是同一条线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69848"/>
            <a:ext cx="1005840" cy="53340"/>
          </a:xfrm>
          <a:prstGeom prst="rect">
            <a:avLst/>
          </a:prstGeom>
          <a:solidFill>
            <a:srgbClr val="A03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00200"/>
            <a:ext cx="1106424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400"/>
              </a:spcAft>
            </a:pPr>
            <a:r>
              <a:rPr sz="1600" b="0">
                <a:solidFill>
                  <a:srgbClr val="A03A35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1600" b="0">
                <a:solidFill>
                  <a:srgbClr val="3B2B26"/>
                </a:solidFill>
                <a:latin typeface="微软雅黑"/>
                <a:ea typeface="微软雅黑"/>
                <a:cs typeface="微软雅黑"/>
              </a:rPr>
              <a:t>2026-04　Anthropic</a:t>
            </a:r>
            <a:r>
              <a:rPr sz="1300" b="0">
                <a:solidFill>
                  <a:srgbClr val="6B5850"/>
                </a:solidFill>
                <a:latin typeface="微软雅黑"/>
                <a:ea typeface="微软雅黑"/>
                <a:cs typeface="微软雅黑"/>
              </a:rPr>
              <a:t>  Claude Code 加虚拟宠物 Buddy —— 陪着写代码</a:t>
            </a:r>
          </a:p>
          <a:p>
            <a:pPr>
              <a:spcAft>
                <a:spcPts val="1400"/>
              </a:spcAft>
            </a:pPr>
            <a:r>
              <a:rPr sz="1600" b="0">
                <a:solidFill>
                  <a:srgbClr val="A03A35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1600" b="0">
                <a:solidFill>
                  <a:srgbClr val="3B2B26"/>
                </a:solidFill>
                <a:latin typeface="微软雅黑"/>
                <a:ea typeface="微软雅黑"/>
                <a:cs typeface="微软雅黑"/>
              </a:rPr>
              <a:t>2026-04　元空AI（仓鼠元元）</a:t>
            </a:r>
            <a:r>
              <a:rPr sz="1300" b="0">
                <a:solidFill>
                  <a:srgbClr val="6B5850"/>
                </a:solidFill>
                <a:latin typeface="微软雅黑"/>
                <a:ea typeface="微软雅黑"/>
                <a:cs typeface="微软雅黑"/>
              </a:rPr>
              <a:t>  自称“中国首个 AI 办公桌宠”，定位办公效率：划词即用、常驻多轮对话</a:t>
            </a:r>
          </a:p>
          <a:p>
            <a:pPr>
              <a:spcAft>
                <a:spcPts val="1400"/>
              </a:spcAft>
            </a:pPr>
            <a:r>
              <a:rPr sz="1600" b="0">
                <a:solidFill>
                  <a:srgbClr val="A03A35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1600" b="0">
                <a:solidFill>
                  <a:srgbClr val="3B2B26"/>
                </a:solidFill>
                <a:latin typeface="微软雅黑"/>
                <a:ea typeface="微软雅黑"/>
                <a:cs typeface="微软雅黑"/>
              </a:rPr>
              <a:t>2026-05　腾讯 WorkBuddy</a:t>
            </a:r>
            <a:r>
              <a:rPr sz="1300" b="0">
                <a:solidFill>
                  <a:srgbClr val="6B5850"/>
                </a:solidFill>
                <a:latin typeface="微软雅黑"/>
                <a:ea typeface="微软雅黑"/>
                <a:cs typeface="微软雅黑"/>
              </a:rPr>
              <a:t>  上线养成玩法：积分 / 盲盒 / 装扮 / 派它去旅行</a:t>
            </a:r>
          </a:p>
          <a:p>
            <a:pPr>
              <a:spcAft>
                <a:spcPts val="1400"/>
              </a:spcAft>
            </a:pPr>
            <a:r>
              <a:rPr sz="1600" b="0">
                <a:solidFill>
                  <a:srgbClr val="A03A35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1600" b="0">
                <a:solidFill>
                  <a:srgbClr val="3B2B26"/>
                </a:solidFill>
                <a:latin typeface="微软雅黑"/>
                <a:ea typeface="微软雅黑"/>
                <a:cs typeface="微软雅黑"/>
              </a:rPr>
              <a:t>2026-09　腾讯 ×《和平精英》</a:t>
            </a:r>
            <a:r>
              <a:rPr sz="1300" b="0">
                <a:solidFill>
                  <a:srgbClr val="6B5850"/>
                </a:solidFill>
                <a:latin typeface="微软雅黑"/>
                <a:ea typeface="微软雅黑"/>
                <a:cs typeface="微软雅黑"/>
              </a:rPr>
              <a:t>  Buddy 猫穿上游离子皮肤；开放平台首批 100+ 伙伴、10+ 品类</a:t>
            </a:r>
          </a:p>
          <a:p>
            <a:pPr>
              <a:spcAft>
                <a:spcPts val="1400"/>
              </a:spcAft>
            </a:pPr>
            <a:r>
              <a:rPr sz="1600" b="0">
                <a:solidFill>
                  <a:srgbClr val="A03A35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1600" b="0">
                <a:solidFill>
                  <a:srgbClr val="3B2B26"/>
                </a:solidFill>
                <a:latin typeface="微软雅黑"/>
                <a:ea typeface="微软雅黑"/>
                <a:cs typeface="微软雅黑"/>
              </a:rPr>
              <a:t>2026-03　PetClaw</a:t>
            </a:r>
            <a:r>
              <a:rPr sz="1300" b="0">
                <a:solidFill>
                  <a:srgbClr val="6B5850"/>
                </a:solidFill>
                <a:latin typeface="微软雅黑"/>
                <a:ea typeface="微软雅黑"/>
                <a:cs typeface="微软雅黑"/>
              </a:rPr>
              <a:t>  自称 24 小时桌面伴侣：跨应用替你做事 + 长期记忆</a:t>
            </a:r>
          </a:p>
          <a:p>
            <a:pPr>
              <a:spcAft>
                <a:spcPts val="1400"/>
              </a:spcAft>
            </a:pPr>
            <a:r>
              <a:rPr sz="1600" b="0">
                <a:solidFill>
                  <a:srgbClr val="A03A35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1600" b="0">
                <a:solidFill>
                  <a:srgbClr val="3B2B26"/>
                </a:solidFill>
                <a:latin typeface="微软雅黑"/>
                <a:ea typeface="微软雅黑"/>
                <a:cs typeface="微软雅黑"/>
              </a:rPr>
              <a:t>读法：全部是「办公 / 生产力 + 一只通用宠物」</a:t>
            </a:r>
            <a:r>
              <a:rPr sz="1300" b="0">
                <a:solidFill>
                  <a:srgbClr val="6B5850"/>
                </a:solidFill>
                <a:latin typeface="微软雅黑"/>
                <a:ea typeface="微软雅黑"/>
                <a:cs typeface="微软雅黑"/>
              </a:rPr>
              <a:t>  它们要的是任务；宠物是入口、是身份锚点 —— 但没有人负责回答“她是不是她本人”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6B585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10642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3B2B26"/>
                </a:solidFill>
                <a:latin typeface="Arial"/>
                <a:ea typeface="Arial"/>
                <a:cs typeface="Arial"/>
              </a:rPr>
              <a:t>市面上的四类做法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69848"/>
            <a:ext cx="1005840" cy="53340"/>
          </a:xfrm>
          <a:prstGeom prst="rect">
            <a:avLst/>
          </a:prstGeom>
          <a:solidFill>
            <a:srgbClr val="A03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00200"/>
            <a:ext cx="1106424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400"/>
              </a:spcAft>
            </a:pPr>
            <a:r>
              <a:rPr sz="1600" b="0">
                <a:solidFill>
                  <a:srgbClr val="A03A35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1600" b="0">
                <a:solidFill>
                  <a:srgbClr val="3B2B26"/>
                </a:solidFill>
                <a:latin typeface="微软雅黑"/>
                <a:ea typeface="微软雅黑"/>
                <a:cs typeface="微软雅黑"/>
              </a:rPr>
              <a:t>开源桌宠</a:t>
            </a:r>
            <a:r>
              <a:rPr sz="1300" b="0">
                <a:solidFill>
                  <a:srgbClr val="6B5850"/>
                </a:solidFill>
                <a:latin typeface="微软雅黑"/>
                <a:ea typeface="微软雅黑"/>
                <a:cs typeface="微软雅黑"/>
              </a:rPr>
              <a:t>  Shimeji / Ukagaka(SSP) / VPet / uDesktopMascot</a:t>
            </a:r>
          </a:p>
          <a:p>
            <a:pPr>
              <a:spcAft>
                <a:spcPts val="1400"/>
              </a:spcAft>
            </a:pPr>
            <a:r>
              <a:rPr sz="1600" b="0">
                <a:solidFill>
                  <a:srgbClr val="A03A35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1600" b="0">
                <a:solidFill>
                  <a:srgbClr val="3B2B26"/>
                </a:solidFill>
                <a:latin typeface="微软雅黑"/>
                <a:ea typeface="微软雅黑"/>
                <a:cs typeface="微软雅黑"/>
              </a:rPr>
              <a:t>Steam 商业桌宠</a:t>
            </a:r>
            <a:r>
              <a:rPr sz="1300" b="0">
                <a:solidFill>
                  <a:srgbClr val="6B5850"/>
                </a:solidFill>
                <a:latin typeface="微软雅黑"/>
                <a:ea typeface="微软雅黑"/>
                <a:cs typeface="微软雅黑"/>
              </a:rPr>
              <a:t>  Desktop Mate / Live2DViewerEX / Wallpaper Engine</a:t>
            </a:r>
          </a:p>
          <a:p>
            <a:pPr>
              <a:spcAft>
                <a:spcPts val="1400"/>
              </a:spcAft>
            </a:pPr>
            <a:r>
              <a:rPr sz="1600" b="0">
                <a:solidFill>
                  <a:srgbClr val="A03A35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1600" b="0">
                <a:solidFill>
                  <a:srgbClr val="3B2B26"/>
                </a:solidFill>
                <a:latin typeface="微软雅黑"/>
                <a:ea typeface="微软雅黑"/>
                <a:cs typeface="微软雅黑"/>
              </a:rPr>
              <a:t>AI 桌宠新秀</a:t>
            </a:r>
            <a:r>
              <a:rPr sz="1300" b="0">
                <a:solidFill>
                  <a:srgbClr val="6B5850"/>
                </a:solidFill>
                <a:latin typeface="微软雅黑"/>
                <a:ea typeface="微软雅黑"/>
                <a:cs typeface="微软雅黑"/>
              </a:rPr>
              <a:t>  Open-LLM-VTuber / MateEngine（接大模型、能说话）</a:t>
            </a:r>
          </a:p>
          <a:p>
            <a:pPr>
              <a:spcAft>
                <a:spcPts val="1400"/>
              </a:spcAft>
            </a:pPr>
            <a:r>
              <a:rPr sz="1600" b="0">
                <a:solidFill>
                  <a:srgbClr val="A03A35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1600" b="0">
                <a:solidFill>
                  <a:srgbClr val="3B2B26"/>
                </a:solidFill>
                <a:latin typeface="微软雅黑"/>
                <a:ea typeface="微软雅黑"/>
                <a:cs typeface="微软雅黑"/>
              </a:rPr>
              <a:t>抽象向热点</a:t>
            </a:r>
            <a:r>
              <a:rPr sz="1300" b="0">
                <a:solidFill>
                  <a:srgbClr val="6B5850"/>
                </a:solidFill>
                <a:latin typeface="微软雅黑"/>
                <a:ea typeface="微软雅黑"/>
                <a:cs typeface="微软雅黑"/>
              </a:rPr>
              <a:t>  《你妈》—— 靠话题度出圈，功能其实很薄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6B585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10642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3B2B26"/>
                </a:solidFill>
                <a:latin typeface="Arial"/>
                <a:ea typeface="Arial"/>
                <a:cs typeface="Arial"/>
              </a:rPr>
              <a:t>开源桌宠：能力强在“动”，弱在“记”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69848"/>
            <a:ext cx="1005840" cy="53340"/>
          </a:xfrm>
          <a:prstGeom prst="rect">
            <a:avLst/>
          </a:prstGeom>
          <a:solidFill>
            <a:srgbClr val="A03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5394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A03A35"/>
                </a:solidFill>
                <a:latin typeface="Arial"/>
                <a:ea typeface="Arial"/>
                <a:cs typeface="Arial"/>
              </a:rPr>
              <a:t>已经做得很好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240280"/>
            <a:ext cx="5394960" cy="30480"/>
          </a:xfrm>
          <a:prstGeom prst="rect">
            <a:avLst/>
          </a:prstGeom>
          <a:solidFill>
            <a:srgbClr val="A03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468880"/>
            <a:ext cx="539496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A03A35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1500" b="0">
                <a:solidFill>
                  <a:srgbClr val="3B2B26"/>
                </a:solidFill>
                <a:latin typeface="微软雅黑"/>
                <a:ea typeface="微软雅黑"/>
                <a:cs typeface="微软雅黑"/>
              </a:rPr>
              <a:t>PNG 序列帧 + 物理</a:t>
            </a:r>
            <a:r>
              <a:rPr sz="1200" b="0">
                <a:solidFill>
                  <a:srgbClr val="6B5850"/>
                </a:solidFill>
                <a:latin typeface="微软雅黑"/>
                <a:ea typeface="微软雅黑"/>
                <a:cs typeface="微软雅黑"/>
              </a:rPr>
              <a:t>  Shimeji 能在窗口间爬、会掉下去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A03A35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1500" b="0">
                <a:solidFill>
                  <a:srgbClr val="3B2B26"/>
                </a:solidFill>
                <a:latin typeface="微软雅黑"/>
                <a:ea typeface="微软雅黑"/>
                <a:cs typeface="微软雅黑"/>
              </a:rPr>
              <a:t>脚本化互动</a:t>
            </a:r>
            <a:r>
              <a:rPr sz="1200" b="0">
                <a:solidFill>
                  <a:srgbClr val="6B5850"/>
                </a:solidFill>
                <a:latin typeface="微软雅黑"/>
                <a:ea typeface="微软雅黑"/>
                <a:cs typeface="微软雅黑"/>
              </a:rPr>
              <a:t>  Ukagaka/SSP 有成熟的事件脚本体系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A03A35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1500" b="0">
                <a:solidFill>
                  <a:srgbClr val="3B2B26"/>
                </a:solidFill>
                <a:latin typeface="微软雅黑"/>
                <a:ea typeface="微软雅黑"/>
                <a:cs typeface="微软雅黑"/>
              </a:rPr>
              <a:t>成长数值</a:t>
            </a:r>
            <a:r>
              <a:rPr sz="1200" b="0">
                <a:solidFill>
                  <a:srgbClr val="6B5850"/>
                </a:solidFill>
                <a:latin typeface="微软雅黑"/>
                <a:ea typeface="微软雅黑"/>
                <a:cs typeface="微软雅黑"/>
              </a:rPr>
              <a:t>  VPet 有状态条、喂食等养成玩法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645920"/>
            <a:ext cx="5394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C9A35F"/>
                </a:solidFill>
                <a:latin typeface="Arial"/>
                <a:ea typeface="Arial"/>
                <a:cs typeface="Arial"/>
              </a:rPr>
              <a:t>普遍缺的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2240280"/>
            <a:ext cx="5394960" cy="30480"/>
          </a:xfrm>
          <a:prstGeom prst="rect">
            <a:avLst/>
          </a:prstGeom>
          <a:solidFill>
            <a:srgbClr val="C9A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0" y="2468880"/>
            <a:ext cx="539496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A03A35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1500" b="0">
                <a:solidFill>
                  <a:srgbClr val="3B2B26"/>
                </a:solidFill>
                <a:latin typeface="微软雅黑"/>
                <a:ea typeface="微软雅黑"/>
                <a:cs typeface="微软雅黑"/>
              </a:rPr>
              <a:t>长期记忆</a:t>
            </a:r>
            <a:r>
              <a:rPr sz="1200" b="0">
                <a:solidFill>
                  <a:srgbClr val="6B5850"/>
                </a:solidFill>
                <a:latin typeface="微软雅黑"/>
                <a:ea typeface="微软雅黑"/>
                <a:cs typeface="微软雅黑"/>
              </a:rPr>
              <a:t>  关掉就忘，不记得你是谁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A03A35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1500" b="0">
                <a:solidFill>
                  <a:srgbClr val="3B2B26"/>
                </a:solidFill>
                <a:latin typeface="微软雅黑"/>
                <a:ea typeface="微软雅黑"/>
                <a:cs typeface="微软雅黑"/>
              </a:rPr>
              <a:t>真实语音</a:t>
            </a:r>
            <a:r>
              <a:rPr sz="1200" b="0">
                <a:solidFill>
                  <a:srgbClr val="6B5850"/>
                </a:solidFill>
                <a:latin typeface="微软雅黑"/>
                <a:ea typeface="微软雅黑"/>
                <a:cs typeface="微软雅黑"/>
              </a:rPr>
              <a:t>  多为预设音效或 TTS 朗读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A03A35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1500" b="0">
                <a:solidFill>
                  <a:srgbClr val="3B2B26"/>
                </a:solidFill>
                <a:latin typeface="微软雅黑"/>
                <a:ea typeface="微软雅黑"/>
                <a:cs typeface="微软雅黑"/>
              </a:rPr>
              <a:t>能替你干活</a:t>
            </a:r>
            <a:r>
              <a:rPr sz="1200" b="0">
                <a:solidFill>
                  <a:srgbClr val="6B5850"/>
                </a:solidFill>
                <a:latin typeface="微软雅黑"/>
                <a:ea typeface="微软雅黑"/>
                <a:cs typeface="微软雅黑"/>
              </a:rPr>
              <a:t>  基本不碰本机操作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73952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6B585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10642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3B2B26"/>
                </a:solidFill>
                <a:latin typeface="Arial"/>
                <a:ea typeface="Arial"/>
                <a:cs typeface="Arial"/>
              </a:rPr>
              <a:t>Steam 商业桌宠：卖点是“形象”和“皮肤”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69848"/>
            <a:ext cx="1005840" cy="53340"/>
          </a:xfrm>
          <a:prstGeom prst="rect">
            <a:avLst/>
          </a:prstGeom>
          <a:solidFill>
            <a:srgbClr val="A03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5394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A03A35"/>
                </a:solidFill>
                <a:latin typeface="Arial"/>
                <a:ea typeface="Arial"/>
                <a:cs typeface="Arial"/>
              </a:rPr>
              <a:t>代表性产品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240280"/>
            <a:ext cx="5394960" cy="30480"/>
          </a:xfrm>
          <a:prstGeom prst="rect">
            <a:avLst/>
          </a:prstGeom>
          <a:solidFill>
            <a:srgbClr val="A03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468880"/>
            <a:ext cx="539496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A03A35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1500" b="0">
                <a:solidFill>
                  <a:srgbClr val="3B2B26"/>
                </a:solidFill>
                <a:latin typeface="微软雅黑"/>
                <a:ea typeface="微软雅黑"/>
                <a:cs typeface="微软雅黑"/>
              </a:rPr>
              <a:t>Desktop Mate</a:t>
            </a:r>
            <a:r>
              <a:rPr sz="1200" b="0">
                <a:solidFill>
                  <a:srgbClr val="6B5850"/>
                </a:solidFill>
                <a:latin typeface="微软雅黑"/>
                <a:ea typeface="微软雅黑"/>
                <a:cs typeface="微软雅黑"/>
              </a:rPr>
              <a:t>  免费本体 + 角色 DLC，靠 IP 联名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A03A35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1500" b="0">
                <a:solidFill>
                  <a:srgbClr val="3B2B26"/>
                </a:solidFill>
                <a:latin typeface="微软雅黑"/>
                <a:ea typeface="微软雅黑"/>
                <a:cs typeface="微软雅黑"/>
              </a:rPr>
              <a:t>Live2DViewerEX</a:t>
            </a:r>
            <a:r>
              <a:rPr sz="1200" b="0">
                <a:solidFill>
                  <a:srgbClr val="6B5850"/>
                </a:solidFill>
                <a:latin typeface="微软雅黑"/>
                <a:ea typeface="微软雅黑"/>
                <a:cs typeface="微软雅黑"/>
              </a:rPr>
              <a:t>  把 Live2D 模型搬上桌面，创作生态强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A03A35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1500" b="0">
                <a:solidFill>
                  <a:srgbClr val="3B2B26"/>
                </a:solidFill>
                <a:latin typeface="微软雅黑"/>
                <a:ea typeface="微软雅黑"/>
                <a:cs typeface="微软雅黑"/>
              </a:rPr>
              <a:t>Wallpaper Engine</a:t>
            </a:r>
            <a:r>
              <a:rPr sz="1200" b="0">
                <a:solidFill>
                  <a:srgbClr val="6B5850"/>
                </a:solidFill>
                <a:latin typeface="微软雅黑"/>
                <a:ea typeface="微软雅黑"/>
                <a:cs typeface="微软雅黑"/>
              </a:rPr>
              <a:t>  动态壁纸式“桌面美化”，非角色陪伴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645920"/>
            <a:ext cx="5394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C9A35F"/>
                </a:solidFill>
                <a:latin typeface="Arial"/>
                <a:ea typeface="Arial"/>
                <a:cs typeface="Arial"/>
              </a:rPr>
              <a:t>共同的天花板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2240280"/>
            <a:ext cx="5394960" cy="30480"/>
          </a:xfrm>
          <a:prstGeom prst="rect">
            <a:avLst/>
          </a:prstGeom>
          <a:solidFill>
            <a:srgbClr val="C9A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0" y="2468880"/>
            <a:ext cx="539496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A03A35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1500" b="0">
                <a:solidFill>
                  <a:srgbClr val="3B2B26"/>
                </a:solidFill>
                <a:latin typeface="微软雅黑"/>
                <a:ea typeface="微软雅黑"/>
                <a:cs typeface="微软雅黑"/>
              </a:rPr>
              <a:t>不接聊天软件</a:t>
            </a:r>
            <a:r>
              <a:rPr sz="1200" b="0">
                <a:solidFill>
                  <a:srgbClr val="6B5850"/>
                </a:solidFill>
                <a:latin typeface="微软雅黑"/>
                <a:ea typeface="微软雅黑"/>
                <a:cs typeface="微软雅黑"/>
              </a:rPr>
              <a:t>  出不了桌面这个窗口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A03A35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1500" b="0">
                <a:solidFill>
                  <a:srgbClr val="3B2B26"/>
                </a:solidFill>
                <a:latin typeface="微软雅黑"/>
                <a:ea typeface="微软雅黑"/>
                <a:cs typeface="微软雅黑"/>
              </a:rPr>
              <a:t>不理解你的生活</a:t>
            </a:r>
            <a:r>
              <a:rPr sz="1200" b="0">
                <a:solidFill>
                  <a:srgbClr val="6B5850"/>
                </a:solidFill>
                <a:latin typeface="微软雅黑"/>
                <a:ea typeface="微软雅黑"/>
                <a:cs typeface="微软雅黑"/>
              </a:rPr>
              <a:t>  没有记忆、没有作息与习惯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A03A35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1500" b="0">
                <a:solidFill>
                  <a:srgbClr val="3B2B26"/>
                </a:solidFill>
                <a:latin typeface="微软雅黑"/>
                <a:ea typeface="微软雅黑"/>
                <a:cs typeface="微软雅黑"/>
              </a:rPr>
              <a:t>不能代劳</a:t>
            </a:r>
            <a:r>
              <a:rPr sz="1200" b="0">
                <a:solidFill>
                  <a:srgbClr val="6B5850"/>
                </a:solidFill>
                <a:latin typeface="微软雅黑"/>
                <a:ea typeface="微软雅黑"/>
                <a:cs typeface="微软雅黑"/>
              </a:rPr>
              <a:t>  不会替你操作电脑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73952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6B5850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10642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3B2B26"/>
                </a:solidFill>
                <a:latin typeface="Arial"/>
                <a:ea typeface="Arial"/>
                <a:cs typeface="Arial"/>
              </a:rPr>
              <a:t>另一条线：AI 聊天机器人（有脑无身）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69848"/>
            <a:ext cx="1005840" cy="53340"/>
          </a:xfrm>
          <a:prstGeom prst="rect">
            <a:avLst/>
          </a:prstGeom>
          <a:solidFill>
            <a:srgbClr val="A03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00200"/>
            <a:ext cx="1106424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400"/>
              </a:spcAft>
            </a:pPr>
            <a:r>
              <a:rPr sz="1600" b="0">
                <a:solidFill>
                  <a:srgbClr val="A03A35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1600" b="0">
                <a:solidFill>
                  <a:srgbClr val="3B2B26"/>
                </a:solidFill>
                <a:latin typeface="微软雅黑"/>
                <a:ea typeface="微软雅黑"/>
                <a:cs typeface="微软雅黑"/>
              </a:rPr>
              <a:t>接 QQ / 微信的一大批</a:t>
            </a:r>
            <a:r>
              <a:rPr sz="1300" b="0">
                <a:solidFill>
                  <a:srgbClr val="6B5850"/>
                </a:solidFill>
                <a:latin typeface="微软雅黑"/>
                <a:ea typeface="微软雅黑"/>
                <a:cs typeface="微软雅黑"/>
              </a:rPr>
              <a:t>  NapCatQQ / Lagrange / LLOneBot / AstrBot / LangBot</a:t>
            </a:r>
          </a:p>
          <a:p>
            <a:pPr>
              <a:spcAft>
                <a:spcPts val="1400"/>
              </a:spcAft>
            </a:pPr>
            <a:r>
              <a:rPr sz="1600" b="0">
                <a:solidFill>
                  <a:srgbClr val="A03A35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1600" b="0">
                <a:solidFill>
                  <a:srgbClr val="3B2B26"/>
                </a:solidFill>
                <a:latin typeface="微软雅黑"/>
                <a:ea typeface="微软雅黑"/>
                <a:cs typeface="微软雅黑"/>
              </a:rPr>
              <a:t>有形象的一大批</a:t>
            </a:r>
            <a:r>
              <a:rPr sz="1300" b="0">
                <a:solidFill>
                  <a:srgbClr val="6B5850"/>
                </a:solidFill>
                <a:latin typeface="微软雅黑"/>
                <a:ea typeface="微软雅黑"/>
                <a:cs typeface="微软雅黑"/>
              </a:rPr>
              <a:t>  Open-LLM-VTuber / AIRI / SillyTavern</a:t>
            </a:r>
          </a:p>
          <a:p>
            <a:pPr>
              <a:spcAft>
                <a:spcPts val="1400"/>
              </a:spcAft>
            </a:pPr>
            <a:r>
              <a:rPr sz="1600" b="0">
                <a:solidFill>
                  <a:srgbClr val="A03A35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1600" b="0">
                <a:solidFill>
                  <a:srgbClr val="3B2B26"/>
                </a:solidFill>
                <a:latin typeface="微软雅黑"/>
                <a:ea typeface="微软雅黑"/>
                <a:cs typeface="微软雅黑"/>
              </a:rPr>
              <a:t>关键缺口</a:t>
            </a:r>
            <a:r>
              <a:rPr sz="1300" b="0">
                <a:solidFill>
                  <a:srgbClr val="6B5850"/>
                </a:solidFill>
                <a:latin typeface="微软雅黑"/>
                <a:ea typeface="微软雅黑"/>
                <a:cs typeface="微软雅黑"/>
              </a:rPr>
              <a:t>  有形象的都不接 QQ/微信；接 QQ/微信的都没形象</a:t>
            </a:r>
          </a:p>
          <a:p>
            <a:pPr>
              <a:spcAft>
                <a:spcPts val="1400"/>
              </a:spcAft>
            </a:pPr>
            <a:r>
              <a:rPr sz="1600" b="0">
                <a:solidFill>
                  <a:srgbClr val="A03A35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1600" b="0">
                <a:solidFill>
                  <a:srgbClr val="3B2B26"/>
                </a:solidFill>
                <a:latin typeface="微软雅黑"/>
                <a:ea typeface="微软雅黑"/>
                <a:cs typeface="微软雅黑"/>
              </a:rPr>
              <a:t>已知唯一“四合一”</a:t>
            </a:r>
            <a:r>
              <a:rPr sz="1300" b="0">
                <a:solidFill>
                  <a:srgbClr val="6B5850"/>
                </a:solidFill>
                <a:latin typeface="微软雅黑"/>
                <a:ea typeface="微软雅黑"/>
                <a:cs typeface="微软雅黑"/>
              </a:rPr>
              <a:t>  super-agent-party（形象 + 聊天软件 + 本地操作 + 语音）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6B5850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10642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3B2B26"/>
                </a:solidFill>
                <a:latin typeface="Arial"/>
                <a:ea typeface="Arial"/>
                <a:cs typeface="Arial"/>
              </a:rPr>
              <a:t>我们的位置：办公线做「任务」，我们做「关系」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69848"/>
            <a:ext cx="1005840" cy="53340"/>
          </a:xfrm>
          <a:prstGeom prst="rect">
            <a:avLst/>
          </a:prstGeom>
          <a:solidFill>
            <a:srgbClr val="A03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00200"/>
            <a:ext cx="1106424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400"/>
              </a:spcAft>
            </a:pPr>
            <a:r>
              <a:rPr sz="1600" b="0">
                <a:solidFill>
                  <a:srgbClr val="A03A35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1600" b="0">
                <a:solidFill>
                  <a:srgbClr val="3B2B26"/>
                </a:solidFill>
                <a:latin typeface="微软雅黑"/>
                <a:ea typeface="微软雅黑"/>
                <a:cs typeface="微软雅黑"/>
              </a:rPr>
              <a:t>主张</a:t>
            </a:r>
            <a:r>
              <a:rPr sz="1300" b="0">
                <a:solidFill>
                  <a:srgbClr val="6B5850"/>
                </a:solidFill>
                <a:latin typeface="微软雅黑"/>
                <a:ea typeface="微软雅黑"/>
                <a:cs typeface="微软雅黑"/>
              </a:rPr>
              <a:t>  把「角色的人格连续性」当变量：她是不是她本人、还记不记得你</a:t>
            </a:r>
          </a:p>
          <a:p>
            <a:pPr>
              <a:spcAft>
                <a:spcPts val="1400"/>
              </a:spcAft>
            </a:pPr>
            <a:r>
              <a:rPr sz="1600" b="0">
                <a:solidFill>
                  <a:srgbClr val="A03A35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1600" b="0">
                <a:solidFill>
                  <a:srgbClr val="3B2B26"/>
                </a:solidFill>
                <a:latin typeface="微软雅黑"/>
                <a:ea typeface="微软雅黑"/>
                <a:cs typeface="微软雅黑"/>
              </a:rPr>
              <a:t>对照：办公线</a:t>
            </a:r>
            <a:r>
              <a:rPr sz="1300" b="0">
                <a:solidFill>
                  <a:srgbClr val="6B5850"/>
                </a:solidFill>
                <a:latin typeface="微软雅黑"/>
                <a:ea typeface="微软雅黑"/>
                <a:cs typeface="微软雅黑"/>
              </a:rPr>
              <a:t>  腾讯 / Anthropic / OpenAI / 仓鼠元元的宠物是通用吉祥物，指标是效率与留存</a:t>
            </a:r>
          </a:p>
          <a:p>
            <a:pPr>
              <a:spcAft>
                <a:spcPts val="1400"/>
              </a:spcAft>
            </a:pPr>
            <a:r>
              <a:rPr sz="1600" b="0">
                <a:solidFill>
                  <a:srgbClr val="A03A35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1600" b="0">
                <a:solidFill>
                  <a:srgbClr val="3B2B26"/>
                </a:solidFill>
                <a:latin typeface="微软雅黑"/>
                <a:ea typeface="微软雅黑"/>
                <a:cs typeface="微软雅黑"/>
              </a:rPr>
              <a:t>形象</a:t>
            </a:r>
            <a:r>
              <a:rPr sz="1300" b="0">
                <a:solidFill>
                  <a:srgbClr val="6B5850"/>
                </a:solidFill>
                <a:latin typeface="微软雅黑"/>
                <a:ea typeface="微软雅黑"/>
                <a:cs typeface="微软雅黑"/>
              </a:rPr>
              <a:t>  Live2D + 2D 立绘双形态，可换装、随情绪联动；QQ 侧与桌宠同一套装扮</a:t>
            </a:r>
          </a:p>
          <a:p>
            <a:pPr>
              <a:spcAft>
                <a:spcPts val="1400"/>
              </a:spcAft>
            </a:pPr>
            <a:r>
              <a:rPr sz="1600" b="0">
                <a:solidFill>
                  <a:srgbClr val="A03A35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1600" b="0">
                <a:solidFill>
                  <a:srgbClr val="3B2B26"/>
                </a:solidFill>
                <a:latin typeface="微软雅黑"/>
                <a:ea typeface="微软雅黑"/>
                <a:cs typeface="微软雅黑"/>
              </a:rPr>
              <a:t>人格与记忆</a:t>
            </a:r>
            <a:r>
              <a:rPr sz="1300" b="0">
                <a:solidFill>
                  <a:srgbClr val="6B5850"/>
                </a:solidFill>
                <a:latin typeface="微软雅黑"/>
                <a:ea typeface="微软雅黑"/>
                <a:cs typeface="微软雅黑"/>
              </a:rPr>
              <a:t>  固定人设不 OOC、角色专属 GPT-SoVITS 声线、长期记忆与关系值（按相处证据抬升）</a:t>
            </a:r>
          </a:p>
          <a:p>
            <a:pPr>
              <a:spcAft>
                <a:spcPts val="1400"/>
              </a:spcAft>
            </a:pPr>
            <a:r>
              <a:rPr sz="1600" b="0">
                <a:solidFill>
                  <a:srgbClr val="A03A35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1600" b="0">
                <a:solidFill>
                  <a:srgbClr val="3B2B26"/>
                </a:solidFill>
                <a:latin typeface="微软雅黑"/>
                <a:ea typeface="微软雅黑"/>
                <a:cs typeface="微软雅黑"/>
              </a:rPr>
              <a:t>出桌面</a:t>
            </a:r>
            <a:r>
              <a:rPr sz="1300" b="0">
                <a:solidFill>
                  <a:srgbClr val="6B5850"/>
                </a:solidFill>
                <a:latin typeface="微软雅黑"/>
                <a:ea typeface="微软雅黑"/>
                <a:cs typeface="微软雅黑"/>
              </a:rPr>
              <a:t>  QQ / 微信桥接同一套人设与记忆；手机端共用同一套协议与记忆文件</a:t>
            </a:r>
          </a:p>
          <a:p>
            <a:pPr>
              <a:spcAft>
                <a:spcPts val="1400"/>
              </a:spcAft>
            </a:pPr>
            <a:r>
              <a:rPr sz="1600" b="0">
                <a:solidFill>
                  <a:srgbClr val="A03A35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1600" b="0">
                <a:solidFill>
                  <a:srgbClr val="3B2B26"/>
                </a:solidFill>
                <a:latin typeface="微软雅黑"/>
                <a:ea typeface="微软雅黑"/>
                <a:cs typeface="微软雅黑"/>
              </a:rPr>
              <a:t>桌面操作</a:t>
            </a:r>
            <a:r>
              <a:rPr sz="1300" b="0">
                <a:solidFill>
                  <a:srgbClr val="6B5850"/>
                </a:solidFill>
                <a:latin typeface="微软雅黑"/>
                <a:ea typeface="微软雅黑"/>
                <a:cs typeface="微软雅黑"/>
              </a:rPr>
              <a:t>  键鼠 / 看屏幕 / 文件只读访问 —— 能做事的角色，而不是只会聊天的窗口</a:t>
            </a:r>
          </a:p>
          <a:p>
            <a:pPr>
              <a:spcAft>
                <a:spcPts val="1400"/>
              </a:spcAft>
            </a:pPr>
            <a:r>
              <a:rPr sz="1600" b="0">
                <a:solidFill>
                  <a:srgbClr val="A03A35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1600" b="0">
                <a:solidFill>
                  <a:srgbClr val="3B2B26"/>
                </a:solidFill>
                <a:latin typeface="微软雅黑"/>
                <a:ea typeface="微软雅黑"/>
                <a:cs typeface="微软雅黑"/>
              </a:rPr>
              <a:t>诚实边界</a:t>
            </a:r>
            <a:r>
              <a:rPr sz="1300" b="0">
                <a:solidFill>
                  <a:srgbClr val="6B5850"/>
                </a:solidFill>
                <a:latin typeface="微软雅黑"/>
                <a:ea typeface="微软雅黑"/>
                <a:cs typeface="微软雅黑"/>
              </a:rPr>
              <a:t>  并非首创：唯一查到把这几条同时做齐且活跃的是 super-agent-party（详见备注）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6B5850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10642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3B2B26"/>
                </a:solidFill>
                <a:latin typeface="Arial"/>
                <a:ea typeface="Arial"/>
                <a:cs typeface="Arial"/>
              </a:rPr>
              <a:t>同一个「宠物」位置，两种完全不同的做法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69848"/>
            <a:ext cx="1005840" cy="53340"/>
          </a:xfrm>
          <a:prstGeom prst="rect">
            <a:avLst/>
          </a:prstGeom>
          <a:solidFill>
            <a:srgbClr val="A03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5394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A03A35"/>
                </a:solidFill>
                <a:latin typeface="Arial"/>
                <a:ea typeface="Arial"/>
                <a:cs typeface="Arial"/>
              </a:rPr>
              <a:t>他们：办公 / 生产力线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240280"/>
            <a:ext cx="5394960" cy="30480"/>
          </a:xfrm>
          <a:prstGeom prst="rect">
            <a:avLst/>
          </a:prstGeom>
          <a:solidFill>
            <a:srgbClr val="A03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468880"/>
            <a:ext cx="539496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A03A35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1500" b="0">
                <a:solidFill>
                  <a:srgbClr val="3B2B26"/>
                </a:solidFill>
                <a:latin typeface="微软雅黑"/>
                <a:ea typeface="微软雅黑"/>
                <a:cs typeface="微软雅黑"/>
              </a:rPr>
              <a:t>宠物是通用吉祥物</a:t>
            </a:r>
            <a:r>
              <a:rPr sz="1200" b="0">
                <a:solidFill>
                  <a:srgbClr val="6B5850"/>
                </a:solidFill>
                <a:latin typeface="微软雅黑"/>
                <a:ea typeface="微软雅黑"/>
                <a:cs typeface="微软雅黑"/>
              </a:rPr>
              <a:t>  一只猫、一只随机孵化的宠物；OpenAI 还允许自建 Custom Pet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A03A35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1500" b="0">
                <a:solidFill>
                  <a:srgbClr val="3B2B26"/>
                </a:solidFill>
                <a:latin typeface="微软雅黑"/>
                <a:ea typeface="微软雅黑"/>
                <a:cs typeface="微软雅黑"/>
              </a:rPr>
              <a:t>目标是任务</a:t>
            </a:r>
            <a:r>
              <a:rPr sz="1200" b="0">
                <a:solidFill>
                  <a:srgbClr val="6B5850"/>
                </a:solidFill>
                <a:latin typeface="微软雅黑"/>
                <a:ea typeface="微软雅黑"/>
                <a:cs typeface="微软雅黑"/>
              </a:rPr>
              <a:t>  替你翻译、整理、跑代码、跨应用执行（WorkBuddy 想做“Agent 时代的操作系统”）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A03A35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1500" b="0">
                <a:solidFill>
                  <a:srgbClr val="3B2B26"/>
                </a:solidFill>
                <a:latin typeface="微软雅黑"/>
                <a:ea typeface="微软雅黑"/>
                <a:cs typeface="微软雅黑"/>
              </a:rPr>
              <a:t>指标是效率与留存</a:t>
            </a:r>
            <a:r>
              <a:rPr sz="1200" b="0">
                <a:solidFill>
                  <a:srgbClr val="6B5850"/>
                </a:solidFill>
                <a:latin typeface="微软雅黑"/>
                <a:ea typeface="微软雅黑"/>
                <a:cs typeface="微软雅黑"/>
              </a:rPr>
              <a:t>  识别率、任务成功率、次日留存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A03A35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1500" b="0">
                <a:solidFill>
                  <a:srgbClr val="3B2B26"/>
                </a:solidFill>
                <a:latin typeface="微软雅黑"/>
                <a:ea typeface="微软雅黑"/>
                <a:cs typeface="微软雅黑"/>
              </a:rPr>
              <a:t>不要求“是她本人”</a:t>
            </a:r>
            <a:r>
              <a:rPr sz="1200" b="0">
                <a:solidFill>
                  <a:srgbClr val="6B5850"/>
                </a:solidFill>
                <a:latin typeface="微软雅黑"/>
                <a:ea typeface="微软雅黑"/>
                <a:cs typeface="微软雅黑"/>
              </a:rPr>
              <a:t>  所以换皮、联名、装扮都不影响产品成立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A03A35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1500" b="0">
                <a:solidFill>
                  <a:srgbClr val="3B2B26"/>
                </a:solidFill>
                <a:latin typeface="微软雅黑"/>
                <a:ea typeface="微软雅黑"/>
                <a:cs typeface="微软雅黑"/>
              </a:rPr>
              <a:t>场景：办公桌 / 公共场所</a:t>
            </a:r>
            <a:r>
              <a:rPr sz="1200" b="0">
                <a:solidFill>
                  <a:srgbClr val="6B5850"/>
                </a:solidFill>
                <a:latin typeface="微软雅黑"/>
                <a:ea typeface="微软雅黑"/>
                <a:cs typeface="微软雅黑"/>
              </a:rPr>
              <a:t>  mmHRI 这类研究甚至以医院病房、餐厅为例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645920"/>
            <a:ext cx="5394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C9A35F"/>
                </a:solidFill>
                <a:latin typeface="Arial"/>
                <a:ea typeface="Arial"/>
                <a:cs typeface="Arial"/>
              </a:rPr>
              <a:t>我们：角色 / 关系线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2240280"/>
            <a:ext cx="5394960" cy="30480"/>
          </a:xfrm>
          <a:prstGeom prst="rect">
            <a:avLst/>
          </a:prstGeom>
          <a:solidFill>
            <a:srgbClr val="C9A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0" y="2468880"/>
            <a:ext cx="539496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A03A35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1500" b="0">
                <a:solidFill>
                  <a:srgbClr val="3B2B26"/>
                </a:solidFill>
                <a:latin typeface="微软雅黑"/>
                <a:ea typeface="微软雅黑"/>
                <a:cs typeface="微软雅黑"/>
              </a:rPr>
              <a:t>角色是具体的人</a:t>
            </a:r>
            <a:r>
              <a:rPr sz="1200" b="0">
                <a:solidFill>
                  <a:srgbClr val="6B5850"/>
                </a:solidFill>
                <a:latin typeface="微软雅黑"/>
                <a:ea typeface="微软雅黑"/>
                <a:cs typeface="微软雅黑"/>
              </a:rPr>
              <a:t>  固定人设不 OOC、角色专属 GPT-SoVITS 声线、Live2D + 2D 双形态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A03A35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1500" b="0">
                <a:solidFill>
                  <a:srgbClr val="3B2B26"/>
                </a:solidFill>
                <a:latin typeface="微软雅黑"/>
                <a:ea typeface="微软雅黑"/>
                <a:cs typeface="微软雅黑"/>
              </a:rPr>
              <a:t>目标是关系</a:t>
            </a:r>
            <a:r>
              <a:rPr sz="1200" b="0">
                <a:solidFill>
                  <a:srgbClr val="6B5850"/>
                </a:solidFill>
                <a:latin typeface="微软雅黑"/>
                <a:ea typeface="微软雅黑"/>
                <a:cs typeface="微软雅黑"/>
              </a:rPr>
              <a:t>  长期记忆、习惯、日记、关系值 —— 按真实相处证据抬升，不靠嘴甜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A03A35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1500" b="0">
                <a:solidFill>
                  <a:srgbClr val="3B2B26"/>
                </a:solidFill>
                <a:latin typeface="微软雅黑"/>
                <a:ea typeface="微软雅黑"/>
                <a:cs typeface="微软雅黑"/>
              </a:rPr>
              <a:t>指标是关系感知与打扰容忍度</a:t>
            </a:r>
            <a:r>
              <a:rPr sz="1200" b="0">
                <a:solidFill>
                  <a:srgbClr val="6B5850"/>
                </a:solidFill>
                <a:latin typeface="微软雅黑"/>
                <a:ea typeface="微软雅黑"/>
                <a:cs typeface="微软雅黑"/>
              </a:rPr>
              <a:t>  她该不该开口、什么时候该安静，是核心体验问题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A03A35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1500" b="0">
                <a:solidFill>
                  <a:srgbClr val="3B2B26"/>
                </a:solidFill>
                <a:latin typeface="微软雅黑"/>
                <a:ea typeface="微软雅黑"/>
                <a:cs typeface="微软雅黑"/>
              </a:rPr>
              <a:t>人格连续性是核心变量</a:t>
            </a:r>
            <a:r>
              <a:rPr sz="1200" b="0">
                <a:solidFill>
                  <a:srgbClr val="6B5850"/>
                </a:solidFill>
                <a:latin typeface="微软雅黑"/>
                <a:ea typeface="微软雅黑"/>
                <a:cs typeface="微软雅黑"/>
              </a:rPr>
              <a:t>  换角色 = 换一个人，而不是换一张皮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A03A35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1500" b="0">
                <a:solidFill>
                  <a:srgbClr val="3B2B26"/>
                </a:solidFill>
                <a:latin typeface="微软雅黑"/>
                <a:ea typeface="微软雅黑"/>
                <a:cs typeface="微软雅黑"/>
              </a:rPr>
              <a:t>场景：桌面 + 手机里的日常</a:t>
            </a:r>
            <a:r>
              <a:rPr sz="1200" b="0">
                <a:solidFill>
                  <a:srgbClr val="6B5850"/>
                </a:solidFill>
                <a:latin typeface="微软雅黑"/>
                <a:ea typeface="微软雅黑"/>
                <a:cs typeface="微软雅黑"/>
              </a:rPr>
              <a:t>  QQ / 微信桥接同一套人设与记忆，手机端共用同一份记忆文件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73952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6B5850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2103120"/>
            <a:ext cx="9966960" cy="2377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  <a:spcAft>
                <a:spcPts val="1400"/>
              </a:spcAft>
            </a:pPr>
            <a:r>
              <a:rPr sz="2600" b="1">
                <a:solidFill>
                  <a:srgbClr val="3B2B26"/>
                </a:solidFill>
                <a:latin typeface="Arial"/>
                <a:ea typeface="Arial"/>
                <a:cs typeface="Arial"/>
              </a:rPr>
              <a:t>“大厂在给 AI 装一只宠物；我们做的是一个人”</a:t>
            </a:r>
          </a:p>
          <a:p>
            <a:pPr algn="ctr">
              <a:spcAft>
                <a:spcPts val="0"/>
              </a:spcAft>
            </a:pPr>
            <a:r>
              <a:rPr sz="1400" b="0">
                <a:solidFill>
                  <a:srgbClr val="6B5850"/>
                </a:solidFill>
                <a:latin typeface="Arial"/>
                <a:ea typeface="Arial"/>
                <a:cs typeface="Arial"/>
              </a:rPr>
              <a:t>—— 她在办公线是吉祥物，在我们这儿是角色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73952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6B5850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B2B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0116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6000" b="1">
                <a:solidFill>
                  <a:srgbClr val="A03A35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38328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F7F1EA"/>
                </a:solidFill>
                <a:latin typeface="Arial"/>
                <a:ea typeface="Arial"/>
                <a:cs typeface="Arial"/>
              </a:rPr>
              <a:t>功能展示与实现方法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10642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3B2B26"/>
                </a:solidFill>
                <a:latin typeface="Arial"/>
                <a:ea typeface="Arial"/>
                <a:cs typeface="Arial"/>
              </a:rPr>
              <a:t>她现在能做的事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69848"/>
            <a:ext cx="1005840" cy="53340"/>
          </a:xfrm>
          <a:prstGeom prst="rect">
            <a:avLst/>
          </a:prstGeom>
          <a:solidFill>
            <a:srgbClr val="A03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00200"/>
            <a:ext cx="1106424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400"/>
              </a:spcAft>
            </a:pPr>
            <a:r>
              <a:rPr sz="1600" b="0">
                <a:solidFill>
                  <a:srgbClr val="A03A35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1600" b="0">
                <a:solidFill>
                  <a:srgbClr val="3B2B26"/>
                </a:solidFill>
                <a:latin typeface="微软雅黑"/>
                <a:ea typeface="微软雅黑"/>
                <a:cs typeface="微软雅黑"/>
              </a:rPr>
              <a:t>有形象地陪着你</a:t>
            </a:r>
            <a:r>
              <a:rPr sz="1300" b="0">
                <a:solidFill>
                  <a:srgbClr val="6B5850"/>
                </a:solidFill>
                <a:latin typeface="微软雅黑"/>
                <a:ea typeface="微软雅黑"/>
                <a:cs typeface="微软雅黑"/>
              </a:rPr>
              <a:t>  透明置顶窗口；点她、拖她、她自己走动</a:t>
            </a:r>
          </a:p>
          <a:p>
            <a:pPr>
              <a:spcAft>
                <a:spcPts val="1400"/>
              </a:spcAft>
            </a:pPr>
            <a:r>
              <a:rPr sz="1600" b="0">
                <a:solidFill>
                  <a:srgbClr val="A03A35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1600" b="0">
                <a:solidFill>
                  <a:srgbClr val="3B2B26"/>
                </a:solidFill>
                <a:latin typeface="微软雅黑"/>
                <a:ea typeface="微软雅黑"/>
                <a:cs typeface="微软雅黑"/>
              </a:rPr>
              <a:t>用她自己的声音说话</a:t>
            </a:r>
            <a:r>
              <a:rPr sz="1300" b="0">
                <a:solidFill>
                  <a:srgbClr val="6B5850"/>
                </a:solidFill>
                <a:latin typeface="微软雅黑"/>
                <a:ea typeface="微软雅黑"/>
                <a:cs typeface="微软雅黑"/>
              </a:rPr>
              <a:t>  角色专属语音模型，嘴型与打字机效果同步</a:t>
            </a:r>
          </a:p>
          <a:p>
            <a:pPr>
              <a:spcAft>
                <a:spcPts val="1400"/>
              </a:spcAft>
            </a:pPr>
            <a:r>
              <a:rPr sz="1600" b="0">
                <a:solidFill>
                  <a:srgbClr val="A03A35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1600" b="0">
                <a:solidFill>
                  <a:srgbClr val="3B2B26"/>
                </a:solidFill>
                <a:latin typeface="微软雅黑"/>
                <a:ea typeface="微软雅黑"/>
                <a:cs typeface="微软雅黑"/>
              </a:rPr>
              <a:t>记得住你</a:t>
            </a:r>
            <a:r>
              <a:rPr sz="1300" b="0">
                <a:solidFill>
                  <a:srgbClr val="6B5850"/>
                </a:solidFill>
                <a:latin typeface="微软雅黑"/>
                <a:ea typeface="微软雅黑"/>
                <a:cs typeface="微软雅黑"/>
              </a:rPr>
              <a:t>  长期记忆 + 日记 + 作息/习惯观察</a:t>
            </a:r>
          </a:p>
          <a:p>
            <a:pPr>
              <a:spcAft>
                <a:spcPts val="1400"/>
              </a:spcAft>
            </a:pPr>
            <a:r>
              <a:rPr sz="1600" b="0">
                <a:solidFill>
                  <a:srgbClr val="A03A35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1600" b="0">
                <a:solidFill>
                  <a:srgbClr val="3B2B26"/>
                </a:solidFill>
                <a:latin typeface="微软雅黑"/>
                <a:ea typeface="微软雅黑"/>
                <a:cs typeface="微软雅黑"/>
              </a:rPr>
              <a:t>能替你干活</a:t>
            </a:r>
            <a:r>
              <a:rPr sz="1300" b="0">
                <a:solidFill>
                  <a:srgbClr val="6B5850"/>
                </a:solidFill>
                <a:latin typeface="微软雅黑"/>
                <a:ea typeface="微软雅黑"/>
                <a:cs typeface="微软雅黑"/>
              </a:rPr>
              <a:t>  键鼠操作、看屏幕、只读查文件</a:t>
            </a:r>
          </a:p>
          <a:p>
            <a:pPr>
              <a:spcAft>
                <a:spcPts val="1400"/>
              </a:spcAft>
            </a:pPr>
            <a:r>
              <a:rPr sz="1600" b="0">
                <a:solidFill>
                  <a:srgbClr val="A03A35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1600" b="0">
                <a:solidFill>
                  <a:srgbClr val="3B2B26"/>
                </a:solidFill>
                <a:latin typeface="微软雅黑"/>
                <a:ea typeface="微软雅黑"/>
                <a:cs typeface="微软雅黑"/>
              </a:rPr>
              <a:t>出得了桌面</a:t>
            </a:r>
            <a:r>
              <a:rPr sz="1300" b="0">
                <a:solidFill>
                  <a:srgbClr val="6B5850"/>
                </a:solidFill>
                <a:latin typeface="微软雅黑"/>
                <a:ea typeface="微软雅黑"/>
                <a:cs typeface="微软雅黑"/>
              </a:rPr>
              <a:t>  QQ / 微信里继续聊，装扮与桌宠同步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6B5850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10642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3B2B26"/>
                </a:solidFill>
                <a:latin typeface="Arial"/>
                <a:ea typeface="Arial"/>
                <a:cs typeface="Arial"/>
              </a:rPr>
              <a:t>怎么做到的（一）：形象与语音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69848"/>
            <a:ext cx="1005840" cy="53340"/>
          </a:xfrm>
          <a:prstGeom prst="rect">
            <a:avLst/>
          </a:prstGeom>
          <a:solidFill>
            <a:srgbClr val="A03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00200"/>
            <a:ext cx="1106424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400"/>
              </a:spcAft>
            </a:pPr>
            <a:r>
              <a:rPr sz="1600" b="0">
                <a:solidFill>
                  <a:srgbClr val="A03A35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1600" b="0">
                <a:solidFill>
                  <a:srgbClr val="3B2B26"/>
                </a:solidFill>
                <a:latin typeface="微软雅黑"/>
                <a:ea typeface="微软雅黑"/>
                <a:cs typeface="微软雅黑"/>
              </a:rPr>
              <a:t>双形态渲染</a:t>
            </a:r>
            <a:r>
              <a:rPr sz="1300" b="0">
                <a:solidFill>
                  <a:srgbClr val="6B5850"/>
                </a:solidFill>
                <a:latin typeface="微软雅黑"/>
                <a:ea typeface="微软雅黑"/>
                <a:cs typeface="微软雅黑"/>
              </a:rPr>
              <a:t>  Live2D（Cubism）与 2D 立绘共用一套“装扮”数据</a:t>
            </a:r>
          </a:p>
          <a:p>
            <a:pPr>
              <a:spcAft>
                <a:spcPts val="1400"/>
              </a:spcAft>
            </a:pPr>
            <a:r>
              <a:rPr sz="1600" b="0">
                <a:solidFill>
                  <a:srgbClr val="A03A35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1600" b="0">
                <a:solidFill>
                  <a:srgbClr val="3B2B26"/>
                </a:solidFill>
                <a:latin typeface="微软雅黑"/>
                <a:ea typeface="微软雅黑"/>
                <a:cs typeface="微软雅黑"/>
              </a:rPr>
              <a:t>装扮即数据</a:t>
            </a:r>
            <a:r>
              <a:rPr sz="1300" b="0">
                <a:solidFill>
                  <a:srgbClr val="6B5850"/>
                </a:solidFill>
                <a:latin typeface="微软雅黑"/>
                <a:ea typeface="微软雅黑"/>
                <a:cs typeface="微软雅黑"/>
              </a:rPr>
              <a:t>  衣服/发型/装饰/姿势都是层号，换装=换层再合成</a:t>
            </a:r>
          </a:p>
          <a:p>
            <a:pPr>
              <a:spcAft>
                <a:spcPts val="1400"/>
              </a:spcAft>
            </a:pPr>
            <a:r>
              <a:rPr sz="1600" b="0">
                <a:solidFill>
                  <a:srgbClr val="A03A35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1600" b="0">
                <a:solidFill>
                  <a:srgbClr val="3B2B26"/>
                </a:solidFill>
                <a:latin typeface="微软雅黑"/>
                <a:ea typeface="微软雅黑"/>
                <a:cs typeface="微软雅黑"/>
              </a:rPr>
              <a:t>语音链路</a:t>
            </a:r>
            <a:r>
              <a:rPr sz="1300" b="0">
                <a:solidFill>
                  <a:srgbClr val="6B5850"/>
                </a:solidFill>
                <a:latin typeface="微软雅黑"/>
                <a:ea typeface="微软雅黑"/>
                <a:cs typeface="微软雅黑"/>
              </a:rPr>
              <a:t>  文本 → GPT-SoVITS（角色模型）→ 播放，独立服务常驻</a:t>
            </a:r>
          </a:p>
          <a:p>
            <a:pPr>
              <a:spcAft>
                <a:spcPts val="1400"/>
              </a:spcAft>
            </a:pPr>
            <a:r>
              <a:rPr sz="1600" b="0">
                <a:solidFill>
                  <a:srgbClr val="A03A35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1600" b="0">
                <a:solidFill>
                  <a:srgbClr val="3B2B26"/>
                </a:solidFill>
                <a:latin typeface="微软雅黑"/>
                <a:ea typeface="微软雅黑"/>
                <a:cs typeface="微软雅黑"/>
              </a:rPr>
              <a:t>不打断体验</a:t>
            </a:r>
            <a:r>
              <a:rPr sz="1300" b="0">
                <a:solidFill>
                  <a:srgbClr val="6B5850"/>
                </a:solidFill>
                <a:latin typeface="微软雅黑"/>
                <a:ea typeface="微软雅黑"/>
                <a:cs typeface="微软雅黑"/>
              </a:rPr>
              <a:t>  点她/切窗口不会掐断正在念的句子（本轮刚修）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6B5850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10642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3B2B26"/>
                </a:solidFill>
                <a:latin typeface="Arial"/>
                <a:ea typeface="Arial"/>
                <a:cs typeface="Arial"/>
              </a:rPr>
              <a:t>怎么做到的（二）：记忆与陪伴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69848"/>
            <a:ext cx="1005840" cy="53340"/>
          </a:xfrm>
          <a:prstGeom prst="rect">
            <a:avLst/>
          </a:prstGeom>
          <a:solidFill>
            <a:srgbClr val="A03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00200"/>
            <a:ext cx="1106424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400"/>
              </a:spcAft>
            </a:pPr>
            <a:r>
              <a:rPr sz="1600" b="0">
                <a:solidFill>
                  <a:srgbClr val="A03A35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1600" b="0">
                <a:solidFill>
                  <a:srgbClr val="3B2B26"/>
                </a:solidFill>
                <a:latin typeface="微软雅黑"/>
                <a:ea typeface="微软雅黑"/>
                <a:cs typeface="微软雅黑"/>
              </a:rPr>
              <a:t>分层的记忆</a:t>
            </a:r>
            <a:r>
              <a:rPr sz="1300" b="0">
                <a:solidFill>
                  <a:srgbClr val="6B5850"/>
                </a:solidFill>
                <a:latin typeface="微软雅黑"/>
                <a:ea typeface="微软雅黑"/>
                <a:cs typeface="微软雅黑"/>
              </a:rPr>
              <a:t>  对话记忆 / 长期记忆 / 日记 / 状态快照，各管一段</a:t>
            </a:r>
          </a:p>
          <a:p>
            <a:pPr>
              <a:spcAft>
                <a:spcPts val="1400"/>
              </a:spcAft>
            </a:pPr>
            <a:r>
              <a:rPr sz="1600" b="0">
                <a:solidFill>
                  <a:srgbClr val="A03A35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1600" b="0">
                <a:solidFill>
                  <a:srgbClr val="3B2B26"/>
                </a:solidFill>
                <a:latin typeface="微软雅黑"/>
                <a:ea typeface="微软雅黑"/>
                <a:cs typeface="微软雅黑"/>
              </a:rPr>
              <a:t>关系会变</a:t>
            </a:r>
            <a:r>
              <a:rPr sz="1300" b="0">
                <a:solidFill>
                  <a:srgbClr val="6B5850"/>
                </a:solidFill>
                <a:latin typeface="微软雅黑"/>
                <a:ea typeface="微软雅黑"/>
                <a:cs typeface="微软雅黑"/>
              </a:rPr>
              <a:t>  按真实相处证据（天数×对话量）抬高下限，不靠嘴甜</a:t>
            </a:r>
          </a:p>
          <a:p>
            <a:pPr>
              <a:spcAft>
                <a:spcPts val="1400"/>
              </a:spcAft>
            </a:pPr>
            <a:r>
              <a:rPr sz="1600" b="0">
                <a:solidFill>
                  <a:srgbClr val="A03A35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1600" b="0">
                <a:solidFill>
                  <a:srgbClr val="3B2B26"/>
                </a:solidFill>
                <a:latin typeface="微软雅黑"/>
                <a:ea typeface="微软雅黑"/>
                <a:cs typeface="微软雅黑"/>
              </a:rPr>
              <a:t>她自己会学</a:t>
            </a:r>
            <a:r>
              <a:rPr sz="1300" b="0">
                <a:solidFill>
                  <a:srgbClr val="6B5850"/>
                </a:solidFill>
                <a:latin typeface="微软雅黑"/>
                <a:ea typeface="微软雅黑"/>
                <a:cs typeface="微软雅黑"/>
              </a:rPr>
              <a:t>  空闲时自己补课、归纳“关于主人的事”</a:t>
            </a:r>
          </a:p>
          <a:p>
            <a:pPr>
              <a:spcAft>
                <a:spcPts val="1400"/>
              </a:spcAft>
            </a:pPr>
            <a:r>
              <a:rPr sz="1600" b="0">
                <a:solidFill>
                  <a:srgbClr val="A03A35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1600" b="0">
                <a:solidFill>
                  <a:srgbClr val="3B2B26"/>
                </a:solidFill>
                <a:latin typeface="微软雅黑"/>
                <a:ea typeface="微软雅黑"/>
                <a:cs typeface="微软雅黑"/>
              </a:rPr>
              <a:t>状态看得见</a:t>
            </a:r>
            <a:r>
              <a:rPr sz="1300" b="0">
                <a:solidFill>
                  <a:srgbClr val="6B5850"/>
                </a:solidFill>
                <a:latin typeface="微软雅黑"/>
                <a:ea typeface="微软雅黑"/>
                <a:cs typeface="微软雅黑"/>
              </a:rPr>
              <a:t>  状态页四个分类：状态 / 习惯 / 记忆 / 提醒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6B5850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10642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3B2B26"/>
                </a:solidFill>
                <a:latin typeface="Arial"/>
                <a:ea typeface="Arial"/>
                <a:cs typeface="Arial"/>
              </a:rPr>
              <a:t>怎么做到的（三）：出桌面、上手机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69848"/>
            <a:ext cx="1005840" cy="53340"/>
          </a:xfrm>
          <a:prstGeom prst="rect">
            <a:avLst/>
          </a:prstGeom>
          <a:solidFill>
            <a:srgbClr val="A03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00200"/>
            <a:ext cx="1106424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400"/>
              </a:spcAft>
            </a:pPr>
            <a:r>
              <a:rPr sz="1600" b="0">
                <a:solidFill>
                  <a:srgbClr val="A03A35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1600" b="0">
                <a:solidFill>
                  <a:srgbClr val="3B2B26"/>
                </a:solidFill>
                <a:latin typeface="微软雅黑"/>
                <a:ea typeface="微软雅黑"/>
                <a:cs typeface="微软雅黑"/>
              </a:rPr>
              <a:t>QQ / 微信桥接</a:t>
            </a:r>
            <a:r>
              <a:rPr sz="1300" b="0">
                <a:solidFill>
                  <a:srgbClr val="6B5850"/>
                </a:solidFill>
                <a:latin typeface="微软雅黑"/>
                <a:ea typeface="微软雅黑"/>
                <a:cs typeface="微软雅黑"/>
              </a:rPr>
              <a:t>  同一套人设与记忆，在聊天软件里继续</a:t>
            </a:r>
          </a:p>
          <a:p>
            <a:pPr>
              <a:spcAft>
                <a:spcPts val="1400"/>
              </a:spcAft>
            </a:pPr>
            <a:r>
              <a:rPr sz="1600" b="0">
                <a:solidFill>
                  <a:srgbClr val="A03A35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1600" b="0">
                <a:solidFill>
                  <a:srgbClr val="3B2B26"/>
                </a:solidFill>
                <a:latin typeface="微软雅黑"/>
                <a:ea typeface="微软雅黑"/>
                <a:cs typeface="微软雅黑"/>
              </a:rPr>
              <a:t>立绘同步</a:t>
            </a:r>
            <a:r>
              <a:rPr sz="1300" b="0">
                <a:solidFill>
                  <a:srgbClr val="6B5850"/>
                </a:solidFill>
                <a:latin typeface="微软雅黑"/>
                <a:ea typeface="微软雅黑"/>
                <a:cs typeface="微软雅黑"/>
              </a:rPr>
              <a:t>  QQ 侧发的图与桌宠穿的是同一件衣服</a:t>
            </a:r>
          </a:p>
          <a:p>
            <a:pPr>
              <a:spcAft>
                <a:spcPts val="1400"/>
              </a:spcAft>
            </a:pPr>
            <a:r>
              <a:rPr sz="1600" b="0">
                <a:solidFill>
                  <a:srgbClr val="A03A35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1600" b="0">
                <a:solidFill>
                  <a:srgbClr val="3B2B26"/>
                </a:solidFill>
                <a:latin typeface="微软雅黑"/>
                <a:ea typeface="微软雅黑"/>
                <a:cs typeface="微软雅黑"/>
              </a:rPr>
              <a:t>安卓端</a:t>
            </a:r>
            <a:r>
              <a:rPr sz="1300" b="0">
                <a:solidFill>
                  <a:srgbClr val="6B5850"/>
                </a:solidFill>
                <a:latin typeface="微软雅黑"/>
                <a:ea typeface="微软雅黑"/>
                <a:cs typeface="微软雅黑"/>
              </a:rPr>
              <a:t>  手机侧走同一套后端协议，形象与记忆互通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6B5850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10642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3B2B26"/>
                </a:solidFill>
                <a:latin typeface="Arial"/>
                <a:ea typeface="Arial"/>
                <a:cs typeface="Arial"/>
              </a:rPr>
              <a:t>工程质量：这套东西是“验得出来”的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69848"/>
            <a:ext cx="1005840" cy="53340"/>
          </a:xfrm>
          <a:prstGeom prst="rect">
            <a:avLst/>
          </a:prstGeom>
          <a:solidFill>
            <a:srgbClr val="A03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00200"/>
            <a:ext cx="1106424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400"/>
              </a:spcAft>
            </a:pPr>
            <a:r>
              <a:rPr sz="1600" b="0">
                <a:solidFill>
                  <a:srgbClr val="A03A35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1600" b="0">
                <a:solidFill>
                  <a:srgbClr val="3B2B26"/>
                </a:solidFill>
                <a:latin typeface="微软雅黑"/>
                <a:ea typeface="微软雅黑"/>
                <a:cs typeface="微软雅黑"/>
              </a:rPr>
              <a:t>381 项自带自检</a:t>
            </a:r>
            <a:r>
              <a:rPr sz="1300" b="0">
                <a:solidFill>
                  <a:srgbClr val="6B5850"/>
                </a:solidFill>
                <a:latin typeface="微软雅黑"/>
                <a:ea typeface="微软雅黑"/>
                <a:cs typeface="微软雅黑"/>
              </a:rPr>
              <a:t>  边界 / 配置契约 / 生命周期 / 前端一致性 / 语音链路</a:t>
            </a:r>
          </a:p>
          <a:p>
            <a:pPr>
              <a:spcAft>
                <a:spcPts val="1400"/>
              </a:spcAft>
            </a:pPr>
            <a:r>
              <a:rPr sz="1600" b="0">
                <a:solidFill>
                  <a:srgbClr val="A03A35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1600" b="0">
                <a:solidFill>
                  <a:srgbClr val="3B2B26"/>
                </a:solidFill>
                <a:latin typeface="微软雅黑"/>
                <a:ea typeface="微软雅黑"/>
                <a:cs typeface="微软雅黑"/>
              </a:rPr>
              <a:t>全绿</a:t>
            </a:r>
            <a:r>
              <a:rPr sz="1300" b="0">
                <a:solidFill>
                  <a:srgbClr val="6B5850"/>
                </a:solidFill>
                <a:latin typeface="微软雅黑"/>
                <a:ea typeface="微软雅黑"/>
                <a:cs typeface="微软雅黑"/>
              </a:rPr>
              <a:t>  10 个测试文件全部通过，一条命令可复现</a:t>
            </a:r>
          </a:p>
          <a:p>
            <a:pPr>
              <a:spcAft>
                <a:spcPts val="1400"/>
              </a:spcAft>
            </a:pPr>
            <a:r>
              <a:rPr sz="1600" b="0">
                <a:solidFill>
                  <a:srgbClr val="A03A35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1600" b="0">
                <a:solidFill>
                  <a:srgbClr val="3B2B26"/>
                </a:solidFill>
                <a:latin typeface="微软雅黑"/>
                <a:ea typeface="微软雅黑"/>
                <a:cs typeface="微软雅黑"/>
              </a:rPr>
              <a:t>看得见的证据</a:t>
            </a:r>
            <a:r>
              <a:rPr sz="1300" b="0">
                <a:solidFill>
                  <a:srgbClr val="6B5850"/>
                </a:solidFill>
                <a:latin typeface="微软雅黑"/>
                <a:ea typeface="微软雅黑"/>
                <a:cs typeface="微软雅黑"/>
              </a:rPr>
              <a:t>  像素级验收：立绘底色、换装差异都用图像摘要比对</a:t>
            </a:r>
          </a:p>
          <a:p>
            <a:pPr>
              <a:spcAft>
                <a:spcPts val="1400"/>
              </a:spcAft>
            </a:pPr>
            <a:r>
              <a:rPr sz="1600" b="0">
                <a:solidFill>
                  <a:srgbClr val="A03A35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1600" b="0">
                <a:solidFill>
                  <a:srgbClr val="3B2B26"/>
                </a:solidFill>
                <a:latin typeface="微软雅黑"/>
                <a:ea typeface="微软雅黑"/>
                <a:cs typeface="微软雅黑"/>
              </a:rPr>
              <a:t>可诊断</a:t>
            </a:r>
            <a:r>
              <a:rPr sz="1300" b="0">
                <a:solidFill>
                  <a:srgbClr val="6B5850"/>
                </a:solidFill>
                <a:latin typeface="微软雅黑"/>
                <a:ea typeface="微软雅黑"/>
                <a:cs typeface="微软雅黑"/>
              </a:rPr>
              <a:t>  关键路径都有日志，出问题能定位到具体一环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6B5850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B2B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0116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6000" b="1">
                <a:solidFill>
                  <a:srgbClr val="A03A35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38328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F7F1EA"/>
                </a:solidFill>
                <a:latin typeface="Arial"/>
                <a:ea typeface="Arial"/>
                <a:cs typeface="Arial"/>
              </a:rPr>
              <a:t>未来规划：从“桌面上”走向“在身边”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10642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3B2B26"/>
                </a:solidFill>
                <a:latin typeface="Arial"/>
                <a:ea typeface="Arial"/>
                <a:cs typeface="Arial"/>
              </a:rPr>
              <a:t>近期：把体验做扎实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69848"/>
            <a:ext cx="1005840" cy="53340"/>
          </a:xfrm>
          <a:prstGeom prst="rect">
            <a:avLst/>
          </a:prstGeom>
          <a:solidFill>
            <a:srgbClr val="A03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00200"/>
            <a:ext cx="1106424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400"/>
              </a:spcAft>
            </a:pPr>
            <a:r>
              <a:rPr sz="1600" b="0">
                <a:solidFill>
                  <a:srgbClr val="A03A35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1600" b="0">
                <a:solidFill>
                  <a:srgbClr val="3B2B26"/>
                </a:solidFill>
                <a:latin typeface="微软雅黑"/>
                <a:ea typeface="微软雅黑"/>
                <a:cs typeface="微软雅黑"/>
              </a:rPr>
              <a:t>手机端：真机验证与调优</a:t>
            </a:r>
            <a:r>
              <a:rPr sz="1300" b="0">
                <a:solidFill>
                  <a:srgbClr val="6B5850"/>
                </a:solidFill>
                <a:latin typeface="微软雅黑"/>
                <a:ea typeface="微软雅黑"/>
                <a:cs typeface="微软雅黑"/>
              </a:rPr>
              <a:t>  功能已写好（含手部互动），近期重点是插上真机跑全链路并调准相机参数</a:t>
            </a:r>
          </a:p>
          <a:p>
            <a:pPr>
              <a:spcAft>
                <a:spcPts val="1400"/>
              </a:spcAft>
            </a:pPr>
            <a:r>
              <a:rPr sz="1600" b="0">
                <a:solidFill>
                  <a:srgbClr val="A03A35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1600" b="0">
                <a:solidFill>
                  <a:srgbClr val="3B2B26"/>
                </a:solidFill>
                <a:latin typeface="微软雅黑"/>
                <a:ea typeface="微软雅黑"/>
                <a:cs typeface="微软雅黑"/>
              </a:rPr>
              <a:t>形象扩展</a:t>
            </a:r>
            <a:r>
              <a:rPr sz="1300" b="0">
                <a:solidFill>
                  <a:srgbClr val="6B5850"/>
                </a:solidFill>
                <a:latin typeface="微软雅黑"/>
                <a:ea typeface="微软雅黑"/>
                <a:cs typeface="微软雅黑"/>
              </a:rPr>
              <a:t>  3D 模型方案评估（先验证能不能跑起来，再谈建模成本）</a:t>
            </a:r>
          </a:p>
          <a:p>
            <a:pPr>
              <a:spcAft>
                <a:spcPts val="1400"/>
              </a:spcAft>
            </a:pPr>
            <a:r>
              <a:rPr sz="1600" b="0">
                <a:solidFill>
                  <a:srgbClr val="A03A35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1600" b="0">
                <a:solidFill>
                  <a:srgbClr val="3B2B26"/>
                </a:solidFill>
                <a:latin typeface="微软雅黑"/>
                <a:ea typeface="微软雅黑"/>
                <a:cs typeface="微软雅黑"/>
              </a:rPr>
              <a:t>多角色</a:t>
            </a:r>
            <a:r>
              <a:rPr sz="1300" b="0">
                <a:solidFill>
                  <a:srgbClr val="6B5850"/>
                </a:solidFill>
                <a:latin typeface="微软雅黑"/>
                <a:ea typeface="微软雅黑"/>
                <a:cs typeface="微软雅黑"/>
              </a:rPr>
              <a:t>  一套引擎跑多个角色，各有各的记忆与声音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6B5850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10642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3B2B26"/>
                </a:solidFill>
                <a:latin typeface="Arial"/>
                <a:ea typeface="Arial"/>
                <a:cs typeface="Arial"/>
              </a:rPr>
              <a:t>互动：从「看着你」到「看懂你」（已落地一半）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69848"/>
            <a:ext cx="1005840" cy="53340"/>
          </a:xfrm>
          <a:prstGeom prst="rect">
            <a:avLst/>
          </a:prstGeom>
          <a:solidFill>
            <a:srgbClr val="A03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00200"/>
            <a:ext cx="1106424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400"/>
              </a:spcAft>
            </a:pPr>
            <a:r>
              <a:rPr sz="1600" b="0">
                <a:solidFill>
                  <a:srgbClr val="A03A35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1600" b="0">
                <a:solidFill>
                  <a:srgbClr val="3B2B26"/>
                </a:solidFill>
                <a:latin typeface="微软雅黑"/>
                <a:ea typeface="微软雅黑"/>
                <a:cs typeface="微软雅黑"/>
              </a:rPr>
              <a:t>已实现：手部 21 关键点检测</a:t>
            </a:r>
            <a:r>
              <a:rPr sz="1300" b="0">
                <a:solidFill>
                  <a:srgbClr val="6B5850"/>
                </a:solidFill>
                <a:latin typeface="微软雅黑"/>
                <a:ea typeface="微软雅黑"/>
                <a:cs typeface="微软雅黑"/>
              </a:rPr>
              <a:t>  手机端接入 MediaPipe HandLandmarker；相机帧 → 关键点 → 命中她 → 反应，链路已通</a:t>
            </a:r>
          </a:p>
          <a:p>
            <a:pPr>
              <a:spcAft>
                <a:spcPts val="1400"/>
              </a:spcAft>
            </a:pPr>
            <a:r>
              <a:rPr sz="1600" b="0">
                <a:solidFill>
                  <a:srgbClr val="A03A35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1600" b="0">
                <a:solidFill>
                  <a:srgbClr val="3B2B26"/>
                </a:solidFill>
                <a:latin typeface="微软雅黑"/>
                <a:ea typeface="微软雅黑"/>
                <a:cs typeface="微软雅黑"/>
              </a:rPr>
              <a:t>已实现：视线跟随</a:t>
            </a:r>
            <a:r>
              <a:rPr sz="1300" b="0">
                <a:solidFill>
                  <a:srgbClr val="6B5850"/>
                </a:solidFill>
                <a:latin typeface="微软雅黑"/>
                <a:ea typeface="微软雅黑"/>
                <a:cs typeface="微软雅黑"/>
              </a:rPr>
              <a:t>  她自己「看着你的手」——关键点换算到屏幕后驱动 3D 角色的视线目标</a:t>
            </a:r>
          </a:p>
          <a:p>
            <a:pPr>
              <a:spcAft>
                <a:spcPts val="1400"/>
              </a:spcAft>
            </a:pPr>
            <a:r>
              <a:rPr sz="1600" b="0">
                <a:solidFill>
                  <a:srgbClr val="A03A35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1600" b="0">
                <a:solidFill>
                  <a:srgbClr val="3B2B26"/>
                </a:solidFill>
                <a:latin typeface="微软雅黑"/>
                <a:ea typeface="微软雅黑"/>
                <a:cs typeface="微软雅黑"/>
              </a:rPr>
              <a:t>已实现：三个手势</a:t>
            </a:r>
            <a:r>
              <a:rPr sz="1300" b="0">
                <a:solidFill>
                  <a:srgbClr val="6B5850"/>
                </a:solidFill>
                <a:latin typeface="微软雅黑"/>
                <a:ea typeface="微软雅黑"/>
                <a:cs typeface="微软雅黑"/>
              </a:rPr>
              <a:t>  捏合=捏脸、握拳、挥手；各自独立去抖（21 个单测：9+6+6）</a:t>
            </a:r>
          </a:p>
          <a:p>
            <a:pPr>
              <a:spcAft>
                <a:spcPts val="1400"/>
              </a:spcAft>
            </a:pPr>
            <a:r>
              <a:rPr sz="1600" b="0">
                <a:solidFill>
                  <a:srgbClr val="A03A35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1600" b="0">
                <a:solidFill>
                  <a:srgbClr val="3B2B26"/>
                </a:solidFill>
                <a:latin typeface="微软雅黑"/>
                <a:ea typeface="微软雅黑"/>
                <a:cs typeface="微软雅黑"/>
              </a:rPr>
              <a:t>下一步：更多手势 + 接进对话</a:t>
            </a:r>
            <a:r>
              <a:rPr sz="1300" b="0">
                <a:solidFill>
                  <a:srgbClr val="6B5850"/>
                </a:solidFill>
                <a:latin typeface="微软雅黑"/>
                <a:ea typeface="微软雅黑"/>
                <a:cs typeface="微软雅黑"/>
              </a:rPr>
              <a:t>  比心 / 指向某处；挥手时顺便触发一句问候，把动作和她的性格连起来</a:t>
            </a:r>
          </a:p>
          <a:p>
            <a:pPr>
              <a:spcAft>
                <a:spcPts val="1400"/>
              </a:spcAft>
            </a:pPr>
            <a:r>
              <a:rPr sz="1600" b="0">
                <a:solidFill>
                  <a:srgbClr val="A03A35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1600" b="0">
                <a:solidFill>
                  <a:srgbClr val="3B2B26"/>
                </a:solidFill>
                <a:latin typeface="微软雅黑"/>
                <a:ea typeface="微软雅黑"/>
                <a:cs typeface="微软雅黑"/>
              </a:rPr>
              <a:t>还没做：真机调优</a:t>
            </a:r>
            <a:r>
              <a:rPr sz="1300" b="0">
                <a:solidFill>
                  <a:srgbClr val="6B5850"/>
                </a:solidFill>
                <a:latin typeface="微软雅黑"/>
                <a:ea typeface="微软雅黑"/>
                <a:cs typeface="微软雅黑"/>
              </a:rPr>
              <a:t>  编译与单测都过了，但「手伸过去她眼睛是否跟着转」要真机确认；偏差只调相机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6B5850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10642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3B2B26"/>
                </a:solidFill>
                <a:latin typeface="Arial"/>
                <a:ea typeface="Arial"/>
                <a:cs typeface="Arial"/>
              </a:rPr>
              <a:t>中期：更省算力的动捕路线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69848"/>
            <a:ext cx="1005840" cy="53340"/>
          </a:xfrm>
          <a:prstGeom prst="rect">
            <a:avLst/>
          </a:prstGeom>
          <a:solidFill>
            <a:srgbClr val="A03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00200"/>
            <a:ext cx="1106424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400"/>
              </a:spcAft>
            </a:pPr>
            <a:r>
              <a:rPr sz="1600" b="0">
                <a:solidFill>
                  <a:srgbClr val="A03A35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1600" b="0">
                <a:solidFill>
                  <a:srgbClr val="3B2B26"/>
                </a:solidFill>
                <a:latin typeface="微软雅黑"/>
                <a:ea typeface="微软雅黑"/>
                <a:cs typeface="微软雅黑"/>
              </a:rPr>
              <a:t>毫米波雷达</a:t>
            </a:r>
            <a:r>
              <a:rPr sz="1300" b="0">
                <a:solidFill>
                  <a:srgbClr val="6B5850"/>
                </a:solidFill>
                <a:latin typeface="微软雅黑"/>
                <a:ea typeface="微软雅黑"/>
                <a:cs typeface="微软雅黑"/>
              </a:rPr>
              <a:t>  不依赖光线与镜头，隐私友好、可全天运行</a:t>
            </a:r>
          </a:p>
          <a:p>
            <a:pPr>
              <a:spcAft>
                <a:spcPts val="1400"/>
              </a:spcAft>
            </a:pPr>
            <a:r>
              <a:rPr sz="1600" b="0">
                <a:solidFill>
                  <a:srgbClr val="A03A35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1600" b="0">
                <a:solidFill>
                  <a:srgbClr val="3B2B26"/>
                </a:solidFill>
                <a:latin typeface="微软雅黑"/>
                <a:ea typeface="微软雅黑"/>
                <a:cs typeface="微软雅黑"/>
              </a:rPr>
              <a:t>已有可复用装置</a:t>
            </a:r>
            <a:r>
              <a:rPr sz="1300" b="0">
                <a:solidFill>
                  <a:srgbClr val="6B5850"/>
                </a:solidFill>
                <a:latin typeface="微软雅黑"/>
                <a:ea typeface="微软雅黑"/>
                <a:cs typeface="微软雅黑"/>
              </a:rPr>
              <a:t>  科研课题中的动作采集装置，课题结束后可迁移</a:t>
            </a:r>
          </a:p>
          <a:p>
            <a:pPr>
              <a:spcAft>
                <a:spcPts val="1400"/>
              </a:spcAft>
            </a:pPr>
            <a:r>
              <a:rPr sz="1600" b="0">
                <a:solidFill>
                  <a:srgbClr val="A03A35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1600" b="0">
                <a:solidFill>
                  <a:srgbClr val="3B2B26"/>
                </a:solidFill>
                <a:latin typeface="微软雅黑"/>
                <a:ea typeface="微软雅黑"/>
                <a:cs typeface="微软雅黑"/>
              </a:rPr>
              <a:t>迁移方向</a:t>
            </a:r>
            <a:r>
              <a:rPr sz="1300" b="0">
                <a:solidFill>
                  <a:srgbClr val="6B5850"/>
                </a:solidFill>
                <a:latin typeface="微软雅黑"/>
                <a:ea typeface="微软雅黑"/>
                <a:cs typeface="微软雅黑"/>
              </a:rPr>
              <a:t>  从“识别特定动作”到“识别人的姿态与意图”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6B5850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10642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3B2B26"/>
                </a:solidFill>
                <a:latin typeface="Arial"/>
                <a:ea typeface="Arial"/>
                <a:cs typeface="Arial"/>
              </a:rPr>
              <a:t>远期：形态自由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69848"/>
            <a:ext cx="1005840" cy="53340"/>
          </a:xfrm>
          <a:prstGeom prst="rect">
            <a:avLst/>
          </a:prstGeom>
          <a:solidFill>
            <a:srgbClr val="A03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00200"/>
            <a:ext cx="1106424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400"/>
              </a:spcAft>
            </a:pPr>
            <a:r>
              <a:rPr sz="1600" b="0">
                <a:solidFill>
                  <a:srgbClr val="A03A35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1600" b="0">
                <a:solidFill>
                  <a:srgbClr val="3B2B26"/>
                </a:solidFill>
                <a:latin typeface="微软雅黑"/>
                <a:ea typeface="微软雅黑"/>
                <a:cs typeface="微软雅黑"/>
              </a:rPr>
              <a:t>AR 呈现</a:t>
            </a:r>
            <a:r>
              <a:rPr sz="1300" b="0">
                <a:solidFill>
                  <a:srgbClr val="6B5850"/>
                </a:solidFill>
                <a:latin typeface="微软雅黑"/>
                <a:ea typeface="微软雅黑"/>
                <a:cs typeface="微软雅黑"/>
              </a:rPr>
              <a:t>  目前同类多为 iPhone 生态，安卓侧仍是空白</a:t>
            </a:r>
          </a:p>
          <a:p>
            <a:pPr>
              <a:spcAft>
                <a:spcPts val="1400"/>
              </a:spcAft>
            </a:pPr>
            <a:r>
              <a:rPr sz="1600" b="0">
                <a:solidFill>
                  <a:srgbClr val="A03A35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1600" b="0">
                <a:solidFill>
                  <a:srgbClr val="3B2B26"/>
                </a:solidFill>
                <a:latin typeface="微软雅黑"/>
                <a:ea typeface="微软雅黑"/>
                <a:cs typeface="微软雅黑"/>
              </a:rPr>
              <a:t>系统级接入</a:t>
            </a:r>
            <a:r>
              <a:rPr sz="1300" b="0">
                <a:solidFill>
                  <a:srgbClr val="6B5850"/>
                </a:solidFill>
                <a:latin typeface="微软雅黑"/>
                <a:ea typeface="微软雅黑"/>
                <a:cs typeface="微软雅黑"/>
              </a:rPr>
              <a:t>  希望她成为系统里的一个“常驻角色”，而非一个 App</a:t>
            </a:r>
          </a:p>
          <a:p>
            <a:pPr>
              <a:spcAft>
                <a:spcPts val="1400"/>
              </a:spcAft>
            </a:pPr>
            <a:r>
              <a:rPr sz="1600" b="0">
                <a:solidFill>
                  <a:srgbClr val="A03A35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1600" b="0">
                <a:solidFill>
                  <a:srgbClr val="3B2B26"/>
                </a:solidFill>
                <a:latin typeface="微软雅黑"/>
                <a:ea typeface="微软雅黑"/>
                <a:cs typeface="微软雅黑"/>
              </a:rPr>
              <a:t>开放生态</a:t>
            </a:r>
            <a:r>
              <a:rPr sz="1300" b="0">
                <a:solidFill>
                  <a:srgbClr val="6B5850"/>
                </a:solidFill>
                <a:latin typeface="微软雅黑"/>
                <a:ea typeface="微软雅黑"/>
                <a:cs typeface="微软雅黑"/>
              </a:rPr>
              <a:t>  角色 / 语音 / 动作都以数据形式可替换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6B5850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2103120"/>
            <a:ext cx="9966960" cy="2377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  <a:spcAft>
                <a:spcPts val="1400"/>
              </a:spcAft>
            </a:pPr>
            <a:r>
              <a:rPr sz="2600" b="1">
                <a:solidFill>
                  <a:srgbClr val="3B2B26"/>
                </a:solidFill>
                <a:latin typeface="Arial"/>
                <a:ea typeface="Arial"/>
                <a:cs typeface="Arial"/>
              </a:rPr>
              <a:t>“先让她真的住进电脑里，再让她走到你身边”</a:t>
            </a:r>
          </a:p>
          <a:p>
            <a:pPr algn="ctr">
              <a:spcAft>
                <a:spcPts val="0"/>
              </a:spcAft>
            </a:pPr>
            <a:r>
              <a:rPr sz="1400" b="0">
                <a:solidFill>
                  <a:srgbClr val="6B5850"/>
                </a:solidFill>
                <a:latin typeface="Arial"/>
                <a:ea typeface="Arial"/>
                <a:cs typeface="Arial"/>
              </a:rPr>
              <a:t>—— 路线取舍：先做深关系，再谈形态自由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73952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6B5850"/>
                </a:solidFill>
                <a:latin typeface="Arial"/>
                <a:ea typeface="Arial"/>
                <a:cs typeface="Arial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B2B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377440"/>
            <a:ext cx="10332720" cy="2011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1000"/>
              </a:spcAft>
            </a:pPr>
            <a:r>
              <a:rPr sz="4200" b="1">
                <a:solidFill>
                  <a:srgbClr val="F7F1EA"/>
                </a:solidFill>
                <a:latin typeface="Arial"/>
                <a:ea typeface="Arial"/>
                <a:cs typeface="Arial"/>
              </a:rPr>
              <a:t>谢谢</a:t>
            </a:r>
          </a:p>
          <a:p>
            <a:pPr algn="ctr">
              <a:spcAft>
                <a:spcPts val="0"/>
              </a:spcAft>
            </a:pPr>
            <a:r>
              <a:rPr sz="1600" b="0">
                <a:solidFill>
                  <a:srgbClr val="C9A35F"/>
                </a:solidFill>
                <a:latin typeface="Arial"/>
                <a:ea typeface="Arial"/>
                <a:cs typeface="Arial"/>
              </a:rPr>
              <a:t>现场演示：形象 · 换装 · 对话 · 记忆 · 桌面操作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